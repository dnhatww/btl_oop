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3"/>
  </p:notesMasterIdLst>
  <p:sldIdLst>
    <p:sldId id="256" r:id="rId3"/>
    <p:sldId id="258" r:id="rId4"/>
    <p:sldId id="259" r:id="rId5"/>
    <p:sldId id="260" r:id="rId6"/>
    <p:sldId id="261" r:id="rId7"/>
    <p:sldId id="32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23" r:id="rId17"/>
    <p:sldId id="272" r:id="rId18"/>
    <p:sldId id="273" r:id="rId19"/>
    <p:sldId id="274" r:id="rId20"/>
    <p:sldId id="324" r:id="rId21"/>
    <p:sldId id="325" r:id="rId22"/>
    <p:sldId id="277" r:id="rId23"/>
    <p:sldId id="326" r:id="rId24"/>
    <p:sldId id="327" r:id="rId25"/>
    <p:sldId id="328" r:id="rId26"/>
    <p:sldId id="281" r:id="rId27"/>
    <p:sldId id="329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01E51-F0D7-4CCA-8A78-9770C78E6CA5}" type="datetimeFigureOut">
              <a:rPr lang="vi-VN" smtClean="0"/>
              <a:t>04/09/2025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9CF8A-6F0D-4A81-9239-E2648E66C7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011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1">
              <a:buFont typeface="Wingdings" pitchFamily="2" charset="2"/>
              <a:buChar char="§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1"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  <a:endParaRPr lang="en-US" sz="1200" baseline="0" dirty="0">
              <a:sym typeface="Symbo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7451BE-C75C-46E3-825F-2F0CFF7F0E7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251" y="618656"/>
            <a:ext cx="8282866" cy="370645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7251" y="4455621"/>
            <a:ext cx="828286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F61-4938-4FC7-A7D3-D808095A096A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A0963C1F-7CE9-4F9E-B7FD-0800F8B12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925" y="286605"/>
            <a:ext cx="7936637" cy="8408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24" y="1127464"/>
            <a:ext cx="7936637" cy="50691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2C9E2-4251-4363-B6E5-3E61ECEE9671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690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24F9-8018-49E3-B590-1AD6B84D6D5B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4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338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278E-27AA-45DF-942F-1EF5DA7F3F69}" type="datetime1">
              <a:rPr lang="vi-VN" smtClean="0"/>
              <a:t>04/09/2025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392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C2A2-F331-4FDA-A413-63E8B1DF7253}" type="datetime1">
              <a:rPr lang="vi-VN" smtClean="0"/>
              <a:t>04/09/2025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105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4FDA-910E-48D2-A949-EF22EDC31FAF}" type="datetime1">
              <a:rPr lang="vi-VN" smtClean="0"/>
              <a:t>04/09/2025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166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6252A-4A6D-4AD5-A3B7-FA3FF87A46D4}" type="datetime1">
              <a:rPr lang="vi-VN" smtClean="0"/>
              <a:t>04/09/2025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ALGEBRAIC QUERY LANGUAGE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348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E8AE066-01CA-4E15-BD87-B3C0E405064A}" type="datetime1">
              <a:rPr lang="vi-VN" smtClean="0"/>
              <a:t>04/09/2025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59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3841-1286-49FD-BB84-2F930F67CAD6}" type="datetime1">
              <a:rPr lang="vi-VN" smtClean="0"/>
              <a:t>04/09/2025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64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199CB-0A8F-4453-B301-C50C29FE0E59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256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EE0FC-997A-449D-8C70-402D1F299854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953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260C-6D91-444D-A403-0669E519D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C3D63-86C6-46E7-B509-1208D0B3F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6FF1E-437C-42D1-AB7F-611226B9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E5EC-F122-43E5-A316-BD4F7D5132AA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7942B-5C43-46CF-8963-BEF960CC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EAA7-F8BC-422F-8041-0BC9D2CD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05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081D-D324-4D9D-80E1-E264DFB9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37334-3AA3-45DA-808F-A8D100906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BF502-D222-4164-9EFA-BCEC3B7D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56B4-7A36-47A2-A2D9-25729713306D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70A66-57DC-4301-A3E5-2DD6EE57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B9BCA-96A4-47B9-9890-D6D1DE20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2877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3D25-2D02-495E-BEAB-16C4A7C8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41B6F-707E-4AC7-A0EC-4244C179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A0BFE-5259-496A-9E4D-5914EC9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FAB8-47AC-4B32-9708-CE130031119C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74619-E29D-48AD-97A8-8B9A8A2D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E99F0-F9B7-4B8A-947A-8D0ACD95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886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BEB0-2F21-4186-BE23-20875214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8267-6BCA-4F48-85AC-DBC76B305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2280-BED6-4524-A534-2CF91989B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224E6-0AD5-4591-B1EB-A97E207E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E4E3-6219-46E9-A6A0-574CE7AD15F1}" type="datetime1">
              <a:rPr lang="vi-VN" smtClean="0"/>
              <a:t>04/09/2025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05E3D-BE7C-461C-91D6-9DF2C17D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2273E-DBBF-476A-A799-832E5B6A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83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850B-5078-4801-9B40-07131C1A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74C1E-C023-4CD9-877C-60C0F1446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DA38B-5FFA-427E-91ED-9030C65BA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CFBB-889E-46A2-BFCD-5CE64A937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86DEF-6DDA-494B-9E25-6ABCADEED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E9C47-A193-4BF9-A8BD-52AA5CF7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BD20-B4F0-4996-96A9-C4E7FA29DA81}" type="datetime1">
              <a:rPr lang="vi-VN" smtClean="0"/>
              <a:t>04/09/2025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D76D2-0E60-46FF-A2F8-D1375CCA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6C5D7-7363-4F73-9428-2D937F09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6279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DB37-0225-41D1-BBBA-DB795928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B30D0-CE14-4FC9-8DE3-8CFAF13E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9095-2A63-4818-8771-6B33AD4222B6}" type="datetime1">
              <a:rPr lang="vi-VN" smtClean="0"/>
              <a:t>04/09/2025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2968E-7B21-4BD6-AD60-E7A6E360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37E1D-71C6-4E4B-9C59-0ADB3F05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5646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E0527-D346-4765-99B9-778BAC9C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1942-4E5A-4FF6-A493-9B199FDAE7E6}" type="datetime1">
              <a:rPr lang="vi-VN" smtClean="0"/>
              <a:t>04/09/2025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1FA91-7401-4066-87B1-4FE49BEE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C18D9-3F10-4BCA-A882-3B4313FE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3572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BDE1-5E1F-4A48-ADD3-3C0E5D0E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275A8-EE9C-43C8-9DEA-6EE6A863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3615B-EF48-4FE0-91E6-CDC26E98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5A9F0-9885-4462-B26E-5B8B341D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AD59-F719-4488-B555-5AF1722752C1}" type="datetime1">
              <a:rPr lang="vi-VN" smtClean="0"/>
              <a:t>04/09/2025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F0DA-0843-4801-A927-5F9F1EF6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2C100-5FC5-421C-8B7C-7C00C30A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850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4AED-8398-4584-9EA1-853B49A9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8F468-01E5-4157-B783-CB38B6AE5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B0CD7-0B7D-4FE0-B0F0-5AE5EAACB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F6C08-5B08-41F5-A597-FD1E536D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574C-19CA-475B-ADAE-C4680498ED56}" type="datetime1">
              <a:rPr lang="vi-VN" smtClean="0"/>
              <a:t>04/09/2025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3899-E647-4F96-B715-6E61E3E2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6FDDC-CF70-440B-96E6-294AE010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3988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A67B-0E68-49E6-A922-1106C5C8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DE827-56D7-4E34-A3E3-5A0D05215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F05C-D234-43BB-8D2E-55A5A206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D9ECB-9D2C-4AAB-AE44-A11E45A2FC8B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727A1-6C2F-4086-BB74-CBC0A959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736D-E31C-4D50-9633-ECEE3156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6575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735CA-E449-4277-BEEB-9130E4045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CE4C0-F014-49F4-B454-E305CF6ED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DA4F8-55BC-4400-B78A-47F45327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92ED-A523-44AA-8C99-33033A3AD681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4A164-16E1-487E-AF07-E336D38D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26855-FA71-4BEE-8F01-B8451B2A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2AA5-3361-4BAC-AACE-478DFD044C2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226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3683" y="259972"/>
            <a:ext cx="7963268" cy="894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683" y="1153605"/>
            <a:ext cx="7963268" cy="50816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20D7BE-F047-4F7F-958C-0C88FED625EE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2FDD2D-D1AD-4AA7-93C2-8410BB90945D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934143" y="1154091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.png">
            <a:extLst>
              <a:ext uri="{FF2B5EF4-FFF2-40B4-BE49-F238E27FC236}">
                <a16:creationId xmlns:a16="http://schemas.microsoft.com/office/drawing/2014/main" id="{385FDECA-9367-45BB-913D-DF7A0DC1350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5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-5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E7B9F-26D5-4444-AE5D-B20B8BA8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FB625-4EEF-46EF-86B2-C48FE15F0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115BF-9B45-454F-8345-BC02FB17C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5E136-79E4-414B-8DD7-1D0806989E03}" type="datetime1">
              <a:rPr lang="vi-VN" smtClean="0"/>
              <a:t>04/09/2025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92D67-82DF-4348-9420-8F1B53941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9FE53-A050-4B80-B789-6B45435F6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AEC34-6AEC-4A4E-B012-939E5E79DC73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2739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3F99-256A-4472-804B-F51AFE5C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C93A-9453-4C53-A2E6-0DD6D1CD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</a:t>
            </a:fld>
            <a:endParaRPr lang="vi-V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988C1-F61A-438E-898F-A77A30BDF22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19125"/>
            <a:ext cx="8281988" cy="3705225"/>
          </a:xfrm>
        </p:spPr>
        <p:txBody>
          <a:bodyPr anchor="t">
            <a:normAutofit/>
          </a:bodyPr>
          <a:lstStyle/>
          <a:p>
            <a:pPr algn="ctr"/>
            <a:r>
              <a:rPr lang="en-US" sz="4600" dirty="0"/>
              <a:t>Chapter 5</a:t>
            </a:r>
            <a:endParaRPr lang="vi-VN" sz="5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C3D96-8B86-4CB6-8E26-70B1CFEE3649}"/>
              </a:ext>
            </a:extLst>
          </p:cNvPr>
          <p:cNvSpPr txBox="1"/>
          <p:nvPr/>
        </p:nvSpPr>
        <p:spPr>
          <a:xfrm>
            <a:off x="1993768" y="4660711"/>
            <a:ext cx="5981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ALGEBRAIC QUERY LANGUAGE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176008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FC1D6-EF21-4A0C-A9D8-19164903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36639-3AD6-4B35-883F-240D6FE1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Understand why must use Bags concept (multi-set)</a:t>
            </a:r>
          </a:p>
          <a:p>
            <a:r>
              <a:rPr lang="en-US" dirty="0"/>
              <a:t>Know relational operations on bags</a:t>
            </a:r>
          </a:p>
          <a:p>
            <a:r>
              <a:rPr lang="en-US" dirty="0"/>
              <a:t>Know extended operations on bags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34248-DE9D-45CC-982C-4C66DE69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ED1E2-43D1-409A-89F6-D5C0FF51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3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We consider relations as bags (multi-sets) rather than sets, that is</a:t>
            </a:r>
          </a:p>
          <a:p>
            <a:pPr lvl="1"/>
            <a:r>
              <a:rPr lang="en-US" dirty="0"/>
              <a:t>We allow the same tuples to appear more than once in a relation</a:t>
            </a:r>
          </a:p>
          <a:p>
            <a:r>
              <a:rPr lang="en-US" dirty="0"/>
              <a:t>We need to make changes to the definition of some relational operations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Relational Operations on Bags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C3DED-4C45-4666-802D-E28B3450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BB1D9-1D32-483E-8AF7-C40DB470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4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90738" y="1527175"/>
            <a:ext cx="7053262" cy="4572000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In this figure, the </a:t>
            </a:r>
            <a:r>
              <a:rPr lang="en-US" dirty="0" err="1"/>
              <a:t>tuple</a:t>
            </a:r>
            <a:r>
              <a:rPr lang="en-US" dirty="0"/>
              <a:t> (1,2) appears 3-times</a:t>
            </a:r>
          </a:p>
          <a:p>
            <a:pPr lvl="1"/>
            <a:r>
              <a:rPr lang="en-US" dirty="0"/>
              <a:t>As a set-valued relation, we would have to eliminate 2-occurences of the tuple (1,2)</a:t>
            </a:r>
          </a:p>
          <a:p>
            <a:pPr lvl="1"/>
            <a:r>
              <a:rPr lang="en-US" dirty="0"/>
              <a:t>As a bag-valued relation, we allow multiple occurrences of the same tuple, but like sets, the order of tuples does not matter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Relational Operations on Bags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2286000"/>
          <a:ext cx="1371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b="1"/>
                        <a:t>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03B0-15DC-473E-BE41-8BC4A167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A2C7D-3A0E-4437-94F4-CF695A6F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5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As mentioned, relations in commercial DBMS are implemented relations as bags rather than sets</a:t>
            </a:r>
          </a:p>
          <a:p>
            <a:r>
              <a:rPr lang="en-US" dirty="0"/>
              <a:t>Some relational operations are considerably more efficient if we use the bag model</a:t>
            </a:r>
          </a:p>
          <a:p>
            <a:pPr lvl="1"/>
            <a:r>
              <a:rPr lang="en-US" dirty="0"/>
              <a:t>Union</a:t>
            </a:r>
          </a:p>
          <a:p>
            <a:pPr lvl="1"/>
            <a:r>
              <a:rPr lang="en-US" dirty="0"/>
              <a:t>Projection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Why Bags?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D9F84-7799-48F9-A4B7-5CA6B2F3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0E997-49A9-48F5-9D26-1E63EB53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6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317625"/>
            <a:ext cx="6553200" cy="5083175"/>
          </a:xfrm>
        </p:spPr>
        <p:txBody>
          <a:bodyPr/>
          <a:lstStyle/>
          <a:p>
            <a:r>
              <a:rPr lang="en-US"/>
              <a:t>Example</a:t>
            </a:r>
          </a:p>
          <a:p>
            <a:pPr lvl="1"/>
            <a:r>
              <a:rPr lang="en-US"/>
              <a:t>Have a look at a projection on A and B</a:t>
            </a:r>
          </a:p>
          <a:p>
            <a:pPr lvl="1"/>
            <a:r>
              <a:rPr lang="en-US"/>
              <a:t>What happens if we’d like to take the average of the A-components?</a:t>
            </a:r>
          </a:p>
          <a:p>
            <a:pPr lvl="1"/>
            <a:r>
              <a:rPr lang="en-US">
                <a:solidFill>
                  <a:srgbClr val="FF0000"/>
                </a:solidFill>
              </a:rPr>
              <a:t>What do you consider between treating as set-valued and treating as bag-valued relation?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Why Bags?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39000" y="1676400"/>
          <a:ext cx="1371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85280-96F5-415A-83C4-8A417440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A71BC-6958-4782-B871-57D28D09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7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Suppose R and S are bags, and </a:t>
            </a:r>
            <a:r>
              <a:rPr lang="en-US" dirty="0">
                <a:solidFill>
                  <a:srgbClr val="FF0066"/>
                </a:solidFill>
              </a:rPr>
              <a:t>t</a:t>
            </a:r>
            <a:r>
              <a:rPr lang="en-US" dirty="0"/>
              <a:t> is the </a:t>
            </a:r>
            <a:r>
              <a:rPr lang="en-US" dirty="0" err="1"/>
              <a:t>tuple</a:t>
            </a:r>
            <a:r>
              <a:rPr lang="en-US" dirty="0"/>
              <a:t> that appears n-times and m-times in R and S (n≥0, m≥0). Then we have:</a:t>
            </a:r>
          </a:p>
          <a:p>
            <a:pPr lvl="1"/>
            <a:r>
              <a:rPr lang="en-US" dirty="0"/>
              <a:t>In {R</a:t>
            </a:r>
            <a:r>
              <a:rPr lang="en-US" dirty="0">
                <a:sym typeface="Symbol"/>
              </a:rPr>
              <a:t> </a:t>
            </a:r>
            <a:r>
              <a:rPr lang="en-US" dirty="0"/>
              <a:t>S}, </a:t>
            </a:r>
            <a:r>
              <a:rPr lang="en-US" i="1" dirty="0">
                <a:solidFill>
                  <a:srgbClr val="FF0066"/>
                </a:solidFill>
              </a:rPr>
              <a:t>t</a:t>
            </a:r>
            <a:r>
              <a:rPr lang="en-US" dirty="0"/>
              <a:t> appears (n + m) times</a:t>
            </a:r>
          </a:p>
          <a:p>
            <a:pPr lvl="1"/>
            <a:r>
              <a:rPr lang="en-US" dirty="0"/>
              <a:t>In {R </a:t>
            </a:r>
            <a:r>
              <a:rPr lang="en-US" dirty="0">
                <a:sym typeface="Symbol"/>
              </a:rPr>
              <a:t> </a:t>
            </a:r>
            <a:r>
              <a:rPr lang="en-US" dirty="0">
                <a:cs typeface="Times New Roman" pitchFamily="18" charset="0"/>
              </a:rPr>
              <a:t>S}, </a:t>
            </a:r>
            <a:r>
              <a:rPr lang="en-US" i="1" dirty="0">
                <a:solidFill>
                  <a:srgbClr val="FF0066"/>
                </a:solidFill>
                <a:cs typeface="Times New Roman" pitchFamily="18" charset="0"/>
              </a:rPr>
              <a:t>t</a:t>
            </a:r>
            <a:r>
              <a:rPr lang="en-US" dirty="0">
                <a:cs typeface="Times New Roman" pitchFamily="18" charset="0"/>
              </a:rPr>
              <a:t> appears MIN(n, m) times</a:t>
            </a:r>
          </a:p>
          <a:p>
            <a:pPr lvl="1"/>
            <a:r>
              <a:rPr lang="en-US" dirty="0"/>
              <a:t>In {R \ S}, </a:t>
            </a:r>
            <a:r>
              <a:rPr lang="en-US" i="1" dirty="0">
                <a:solidFill>
                  <a:srgbClr val="FF0066"/>
                </a:solidFill>
              </a:rPr>
              <a:t>t</a:t>
            </a:r>
            <a:r>
              <a:rPr lang="en-US" dirty="0"/>
              <a:t> appears MAX(0, n - m) times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Union, Intersection, and Difference of Bags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DF4AF48-27F1-48A9-8EA5-6F69BE5F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3342C1B-7DF3-4C04-AD21-7E1E069A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8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Union, Intersection, and Difference of Bags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667000"/>
          <a:ext cx="838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90090" y="2667000"/>
          <a:ext cx="82931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6800" y="220980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22098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4430" y="2209800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>
                <a:sym typeface="Symbol"/>
              </a:rPr>
              <a:t>S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42690" y="2667000"/>
          <a:ext cx="8293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44630" y="2209800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>
                <a:sym typeface="Symbol"/>
              </a:rPr>
              <a:t>S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42890" y="2667000"/>
          <a:ext cx="82931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44830" y="2209800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>
                <a:sym typeface="Symbol"/>
              </a:rPr>
              <a:t>\S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43090" y="2667000"/>
          <a:ext cx="82931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939AF-1ACC-4B25-A8F4-F00DC91E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BC53AF-0077-446E-94B7-5F2D08CB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9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Each </a:t>
            </a:r>
            <a:r>
              <a:rPr lang="en-US" dirty="0" err="1"/>
              <a:t>tuple</a:t>
            </a:r>
            <a:r>
              <a:rPr lang="en-US" dirty="0"/>
              <a:t> is processed independently during the projection</a:t>
            </a:r>
          </a:p>
          <a:p>
            <a:r>
              <a:rPr lang="en-US" b="1" dirty="0">
                <a:solidFill>
                  <a:srgbClr val="FF0000"/>
                </a:solidFill>
              </a:rPr>
              <a:t>Don’t eliminate duplications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Projection of Bags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65960" y="3733800"/>
          <a:ext cx="1234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3733800"/>
          <a:ext cx="838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3200400" y="4648200"/>
            <a:ext cx="2971800" cy="158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0" y="4191000"/>
            <a:ext cx="93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</a:t>
            </a:r>
            <a:r>
              <a:rPr lang="en-US" baseline="-25000" dirty="0">
                <a:sym typeface="Symbol"/>
              </a:rPr>
              <a:t>A,B</a:t>
            </a:r>
            <a:r>
              <a:rPr lang="en-US" dirty="0">
                <a:sym typeface="Symbol"/>
              </a:rPr>
              <a:t>(R)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2D24DD-D56C-4603-A67B-210850D0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7CF615-3FEF-4BE6-8263-DC2044EF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10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To apply a selection to a bag, we apply the selection condition to each </a:t>
            </a:r>
            <a:r>
              <a:rPr lang="en-US" dirty="0" err="1"/>
              <a:t>tuple</a:t>
            </a:r>
            <a:r>
              <a:rPr lang="en-US" dirty="0"/>
              <a:t> independently</a:t>
            </a:r>
          </a:p>
          <a:p>
            <a:r>
              <a:rPr lang="en-US" b="1" dirty="0">
                <a:solidFill>
                  <a:srgbClr val="FF0000"/>
                </a:solidFill>
              </a:rPr>
              <a:t>Don’t eliminate duplications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Selection on Bags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3657600"/>
          <a:ext cx="1234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2987040" y="4572000"/>
            <a:ext cx="2971800" cy="158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01440" y="4114800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</a:t>
            </a:r>
            <a:r>
              <a:rPr lang="en-US" baseline="-25000" dirty="0">
                <a:sym typeface="Symbol"/>
              </a:rPr>
              <a:t>C=2</a:t>
            </a:r>
            <a:r>
              <a:rPr lang="en-US" dirty="0">
                <a:sym typeface="Symbol"/>
              </a:rPr>
              <a:t>(R)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04560" y="3683000"/>
          <a:ext cx="12344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F779F-1713-4B43-92C4-60C1B94B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F1A-ADDA-4AC6-AF91-A7DB0238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11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Each </a:t>
            </a:r>
            <a:r>
              <a:rPr lang="en-US" dirty="0" err="1"/>
              <a:t>tuple</a:t>
            </a:r>
            <a:r>
              <a:rPr lang="en-US" dirty="0"/>
              <a:t> of one relation is paired with each </a:t>
            </a:r>
            <a:r>
              <a:rPr lang="en-US" dirty="0" err="1"/>
              <a:t>tuple</a:t>
            </a:r>
            <a:r>
              <a:rPr lang="en-US" dirty="0"/>
              <a:t> of the other, regardless of whether it is a duplicate or not</a:t>
            </a:r>
          </a:p>
          <a:p>
            <a:r>
              <a:rPr lang="en-US" dirty="0"/>
              <a:t>If a </a:t>
            </a:r>
            <a:r>
              <a:rPr lang="en-US" dirty="0" err="1"/>
              <a:t>tuple</a:t>
            </a:r>
            <a:r>
              <a:rPr lang="en-US" dirty="0"/>
              <a:t> r appears in relation R m-times, and </a:t>
            </a:r>
            <a:r>
              <a:rPr lang="en-US" dirty="0" err="1"/>
              <a:t>tuple</a:t>
            </a:r>
            <a:r>
              <a:rPr lang="en-US" dirty="0"/>
              <a:t> s appears in relation S n-times, then in the product </a:t>
            </a:r>
            <a:r>
              <a:rPr lang="en-US" dirty="0" err="1"/>
              <a:t>RxS</a:t>
            </a:r>
            <a:r>
              <a:rPr lang="en-US" dirty="0"/>
              <a:t>, the </a:t>
            </a:r>
            <a:r>
              <a:rPr lang="en-US" dirty="0" err="1"/>
              <a:t>tuple</a:t>
            </a:r>
            <a:r>
              <a:rPr lang="en-US" dirty="0"/>
              <a:t> </a:t>
            </a:r>
            <a:r>
              <a:rPr lang="en-US" dirty="0" err="1"/>
              <a:t>rs</a:t>
            </a:r>
            <a:r>
              <a:rPr lang="en-US" dirty="0"/>
              <a:t> will appear </a:t>
            </a:r>
            <a:r>
              <a:rPr lang="en-US" dirty="0" err="1"/>
              <a:t>mn</a:t>
            </a:r>
            <a:r>
              <a:rPr lang="en-US" dirty="0"/>
              <a:t>-times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Product of Bags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61C9434-8CFB-4566-9CFD-92C560A5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F0AA9DE-0E79-4CE0-A9DE-C1C26EB4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12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Product of Bags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2438400"/>
          <a:ext cx="8293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2438400"/>
          <a:ext cx="81978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47800" y="213360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0030" y="21336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8430" y="21336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RxS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48200" y="2438400"/>
          <a:ext cx="21285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876EC-8F13-4D6A-9C64-11540E50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2B037-A542-4C30-A641-B0EB6D68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13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Each </a:t>
            </a:r>
            <a:r>
              <a:rPr lang="en-US" dirty="0" err="1"/>
              <a:t>tuple</a:t>
            </a:r>
            <a:r>
              <a:rPr lang="en-US" dirty="0"/>
              <a:t> of one relation is paired with each </a:t>
            </a:r>
            <a:r>
              <a:rPr lang="en-US" dirty="0" err="1"/>
              <a:t>tuple</a:t>
            </a:r>
            <a:r>
              <a:rPr lang="en-US" dirty="0"/>
              <a:t> of the other if they satisfy the join condition whether there are duplicates or not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Joins of Bags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259535-DB7C-4D16-A81C-8CF399AF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C02EEE-068E-44F6-B5EA-E0EEF196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14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Joins of Bags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2565400"/>
          <a:ext cx="8293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2565400"/>
          <a:ext cx="81978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47800" y="213360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0030" y="21336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8430" y="2133600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R </a:t>
            </a:r>
            <a:r>
              <a:rPr lang="en-US" dirty="0">
                <a:latin typeface="Lucida Sans Unicode" pitchFamily="34" charset="0"/>
              </a:rPr>
              <a:t>⋈ </a:t>
            </a:r>
            <a:r>
              <a:rPr lang="en-US" baseline="-25000" dirty="0">
                <a:latin typeface="Lucida Sans Unicode" pitchFamily="34" charset="0"/>
              </a:rPr>
              <a:t>R.B&lt;S.B</a:t>
            </a:r>
            <a:r>
              <a:rPr lang="en-US" dirty="0">
                <a:latin typeface="Lucida Sans Unicode" pitchFamily="34" charset="0"/>
              </a:rPr>
              <a:t> S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34280" y="2565400"/>
          <a:ext cx="21285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96C83-F52E-4425-A160-49A8899A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F6EB9-82AD-40EC-AD2E-8698FA28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15</a:t>
            </a:fld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EXTENDED OPERATIONS OF RELATIONAL ALGEBRA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D5DDA-6977-4B9E-BEE2-728458D6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48193-DA41-4E72-A057-C51B1B80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16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There are some extended operators</a:t>
            </a:r>
          </a:p>
          <a:p>
            <a:pPr lvl="1"/>
            <a:r>
              <a:rPr lang="en-US" dirty="0"/>
              <a:t>Duplicate-elimination operator </a:t>
            </a:r>
            <a:r>
              <a:rPr lang="en-US" dirty="0">
                <a:sym typeface="Symbol"/>
              </a:rPr>
              <a:t></a:t>
            </a:r>
          </a:p>
          <a:p>
            <a:pPr lvl="1"/>
            <a:r>
              <a:rPr lang="en-US" dirty="0">
                <a:sym typeface="Symbol"/>
              </a:rPr>
              <a:t>Aggregation operators (used by the grouping operator)</a:t>
            </a:r>
          </a:p>
          <a:p>
            <a:pPr lvl="1"/>
            <a:r>
              <a:rPr lang="en-US" dirty="0">
                <a:sym typeface="Symbol"/>
              </a:rPr>
              <a:t>Grouping operators</a:t>
            </a:r>
          </a:p>
          <a:p>
            <a:pPr lvl="1"/>
            <a:r>
              <a:rPr lang="en-US" dirty="0">
                <a:sym typeface="Symbol"/>
              </a:rPr>
              <a:t>Extended projection</a:t>
            </a:r>
          </a:p>
          <a:p>
            <a:pPr lvl="1"/>
            <a:r>
              <a:rPr lang="en-US" dirty="0">
                <a:sym typeface="Symbol"/>
              </a:rPr>
              <a:t>Sorting operators</a:t>
            </a:r>
          </a:p>
          <a:p>
            <a:pPr lvl="1"/>
            <a:r>
              <a:rPr lang="en-US" dirty="0">
                <a:sym typeface="Symbol"/>
              </a:rPr>
              <a:t>Outer join operators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Extended Operators of Relational Algebra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450E7-B897-49E6-9B58-19A91644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EE8C4-13FA-4CA5-87AD-ED3B95B1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17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sym typeface="Symbol"/>
              </a:rPr>
              <a:t></a:t>
            </a:r>
            <a:r>
              <a:rPr lang="en-US" b="1" dirty="0">
                <a:solidFill>
                  <a:srgbClr val="FF0000"/>
                </a:solidFill>
                <a:sym typeface="Symbol"/>
              </a:rPr>
              <a:t>(R)</a:t>
            </a:r>
            <a:r>
              <a:rPr lang="en-US" dirty="0">
                <a:sym typeface="Symbol"/>
              </a:rPr>
              <a:t> is used to convert a bag to a set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Duplicate Elimination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2819400"/>
          <a:ext cx="1234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2987040" y="3733800"/>
            <a:ext cx="2971800" cy="158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01440" y="3276600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ym typeface="Symbol"/>
              </a:rPr>
              <a:t></a:t>
            </a:r>
            <a:r>
              <a:rPr lang="en-US" baseline="-25000" dirty="0">
                <a:sym typeface="Symbol"/>
              </a:rPr>
              <a:t> </a:t>
            </a:r>
            <a:r>
              <a:rPr lang="en-US" dirty="0">
                <a:sym typeface="Symbol"/>
              </a:rPr>
              <a:t>(R)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4560" y="2844800"/>
          <a:ext cx="12344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04BE4-01DB-4B13-A0B3-285C799C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E6EFA-5670-41F6-979E-5E977911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18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These operators are used to summarize or </a:t>
            </a:r>
            <a:r>
              <a:rPr lang="en-US" i="1" dirty="0"/>
              <a:t>aggregate</a:t>
            </a:r>
            <a:r>
              <a:rPr lang="en-US" dirty="0"/>
              <a:t> the values in one column of a relation</a:t>
            </a:r>
          </a:p>
          <a:p>
            <a:r>
              <a:rPr lang="en-US" dirty="0"/>
              <a:t>The standard aggregation operators</a:t>
            </a:r>
          </a:p>
          <a:p>
            <a:pPr lvl="1"/>
            <a:r>
              <a:rPr lang="en-US" dirty="0"/>
              <a:t>SUM</a:t>
            </a:r>
          </a:p>
          <a:p>
            <a:pPr lvl="1"/>
            <a:r>
              <a:rPr lang="en-US" dirty="0"/>
              <a:t>AVG</a:t>
            </a:r>
          </a:p>
          <a:p>
            <a:pPr lvl="1"/>
            <a:r>
              <a:rPr lang="en-US" dirty="0"/>
              <a:t>MIN</a:t>
            </a:r>
          </a:p>
          <a:p>
            <a:pPr lvl="1"/>
            <a:r>
              <a:rPr lang="en-US" dirty="0"/>
              <a:t>MAX</a:t>
            </a:r>
          </a:p>
          <a:p>
            <a:pPr lvl="1"/>
            <a:r>
              <a:rPr lang="en-US" dirty="0"/>
              <a:t>COUNT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Aggregation Operators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B77A-F0C1-45A5-9F01-830A8AED2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778A4-F520-4F57-9EF9-2378F460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19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/>
              <a:t>Example</a:t>
            </a:r>
          </a:p>
          <a:p>
            <a:pPr lvl="1"/>
            <a:r>
              <a:rPr lang="en-US"/>
              <a:t>SUM(B)=2+4+2+2=10</a:t>
            </a:r>
          </a:p>
          <a:p>
            <a:pPr lvl="1"/>
            <a:r>
              <a:rPr lang="en-US"/>
              <a:t>AVG(A)=(1+3+1+1)/4=1.5</a:t>
            </a:r>
          </a:p>
          <a:p>
            <a:pPr lvl="1"/>
            <a:r>
              <a:rPr lang="en-US"/>
              <a:t>MIN(A)=1</a:t>
            </a:r>
          </a:p>
          <a:p>
            <a:pPr lvl="1"/>
            <a:r>
              <a:rPr lang="en-US"/>
              <a:t>MAX(B)=4</a:t>
            </a:r>
          </a:p>
          <a:p>
            <a:pPr lvl="1"/>
            <a:r>
              <a:rPr lang="en-US"/>
              <a:t>COUNT(A)=4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Aggregation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51000"/>
          <a:ext cx="1234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EF95-81EB-4AA4-A547-64DD3072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71710-4963-43F3-95A2-AA91B91A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20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sz="2400" dirty="0"/>
              <a:t>Compute the total number of stars of each movie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First, list all stars for each movie, and store in temporary relation (there are three such relations)</a:t>
            </a:r>
          </a:p>
          <a:p>
            <a:pPr lvl="1"/>
            <a:r>
              <a:rPr lang="en-US" sz="2400" dirty="0"/>
              <a:t>Then, for each relation, use the COUNT aggregation operator to count the number of tuples</a:t>
            </a:r>
          </a:p>
          <a:p>
            <a:r>
              <a:rPr lang="en-US" sz="2400" dirty="0"/>
              <a:t>This approach is so complicated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How do we ...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0516" y="1697507"/>
            <a:ext cx="6705600" cy="196453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7EC7-E24E-4C81-8577-9FC9F473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82EA-D953-4B74-B696-A35EA2CB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21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First, we group the tuple of Movies </a:t>
            </a:r>
          </a:p>
          <a:p>
            <a:r>
              <a:rPr lang="en-US" dirty="0"/>
              <a:t>Then, we apply the aggregation COUNT to each group independently</a:t>
            </a:r>
          </a:p>
          <a:p>
            <a:r>
              <a:rPr lang="en-US" dirty="0"/>
              <a:t>That is, we use the grouping operator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So how we do?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524000"/>
            <a:ext cx="6705600" cy="196453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DECC8-D999-47BB-9413-0B4B01AD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0B6B0-1F5E-49F5-9BB0-258AD702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22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grouping operator is denoted by </a:t>
            </a:r>
            <a:r>
              <a:rPr lang="en-US" sz="3200" b="1" dirty="0">
                <a:latin typeface="Symbol" pitchFamily="18" charset="2"/>
                <a:sym typeface="Symbol"/>
              </a:rPr>
              <a:t></a:t>
            </a:r>
            <a:r>
              <a:rPr lang="en-US" i="1" baseline="-25000" dirty="0">
                <a:sym typeface="Symbol"/>
              </a:rPr>
              <a:t>L</a:t>
            </a:r>
            <a:r>
              <a:rPr lang="en-US" dirty="0">
                <a:sym typeface="Symbol"/>
              </a:rPr>
              <a:t>(R), where L is a list of elements:</a:t>
            </a:r>
          </a:p>
          <a:p>
            <a:pPr lvl="1"/>
            <a:r>
              <a:rPr lang="en-US" sz="2600" dirty="0">
                <a:sym typeface="Symbol"/>
              </a:rPr>
              <a:t>An attribute of the relation R to which the </a:t>
            </a:r>
            <a:r>
              <a:rPr lang="en-US" sz="2600" b="1" dirty="0">
                <a:sym typeface="Symbol"/>
              </a:rPr>
              <a:t> </a:t>
            </a:r>
            <a:r>
              <a:rPr lang="en-US" sz="2600" dirty="0">
                <a:sym typeface="Symbol"/>
              </a:rPr>
              <a:t>is applied, this attribute is one of the attributes by which R will be grouped, is called by </a:t>
            </a:r>
            <a:r>
              <a:rPr lang="en-US" sz="2600" i="1" dirty="0">
                <a:solidFill>
                  <a:srgbClr val="FF0000"/>
                </a:solidFill>
                <a:sym typeface="Symbol"/>
              </a:rPr>
              <a:t>grouping attribute</a:t>
            </a:r>
            <a:endParaRPr lang="en-US" sz="2600" dirty="0">
              <a:solidFill>
                <a:srgbClr val="FF0000"/>
              </a:solidFill>
              <a:sym typeface="Symbol"/>
            </a:endParaRPr>
          </a:p>
          <a:p>
            <a:pPr lvl="1"/>
            <a:r>
              <a:rPr lang="en-US" sz="2600" dirty="0">
                <a:sym typeface="Symbol"/>
              </a:rPr>
              <a:t>An aggregation operator applied  to an attribute of the relation, this attribute is said to be an </a:t>
            </a:r>
            <a:r>
              <a:rPr lang="en-US" sz="2600" i="1" dirty="0">
                <a:solidFill>
                  <a:srgbClr val="FF0000"/>
                </a:solidFill>
                <a:sym typeface="Symbol"/>
              </a:rPr>
              <a:t>aggregating attribute</a:t>
            </a:r>
            <a:endParaRPr lang="en-US" sz="2600" dirty="0">
              <a:solidFill>
                <a:srgbClr val="FF0000"/>
              </a:solidFill>
              <a:sym typeface="Symbol"/>
            </a:endParaRPr>
          </a:p>
          <a:p>
            <a:r>
              <a:rPr lang="en-US" dirty="0"/>
              <a:t>The result of </a:t>
            </a:r>
            <a:r>
              <a:rPr lang="en-US" sz="3200" b="1" dirty="0">
                <a:sym typeface="Symbol"/>
              </a:rPr>
              <a:t></a:t>
            </a:r>
            <a:r>
              <a:rPr lang="en-US" i="1" baseline="-25000" dirty="0">
                <a:sym typeface="Symbol"/>
              </a:rPr>
              <a:t>L</a:t>
            </a:r>
            <a:r>
              <a:rPr lang="en-US" dirty="0">
                <a:sym typeface="Symbol"/>
              </a:rPr>
              <a:t>(R) is constructed as follow:</a:t>
            </a:r>
          </a:p>
          <a:p>
            <a:pPr lvl="1"/>
            <a:r>
              <a:rPr lang="en-US" sz="2600" dirty="0">
                <a:sym typeface="Symbol"/>
              </a:rPr>
              <a:t>Partition the </a:t>
            </a:r>
            <a:r>
              <a:rPr lang="en-US" sz="2600" dirty="0" err="1">
                <a:sym typeface="Symbol"/>
              </a:rPr>
              <a:t>tuples</a:t>
            </a:r>
            <a:r>
              <a:rPr lang="en-US" sz="2600" dirty="0">
                <a:sym typeface="Symbol"/>
              </a:rPr>
              <a:t> of R into groups on </a:t>
            </a:r>
            <a:r>
              <a:rPr lang="en-US" sz="2600" i="1" dirty="0">
                <a:sym typeface="Symbol"/>
              </a:rPr>
              <a:t>grouping attributes</a:t>
            </a:r>
            <a:r>
              <a:rPr lang="en-US" sz="2600" dirty="0">
                <a:sym typeface="Symbol"/>
              </a:rPr>
              <a:t> in list L</a:t>
            </a:r>
          </a:p>
          <a:p>
            <a:pPr lvl="1"/>
            <a:r>
              <a:rPr lang="en-US" sz="2600" dirty="0">
                <a:sym typeface="Symbol"/>
              </a:rPr>
              <a:t>For each group, produce one </a:t>
            </a:r>
            <a:r>
              <a:rPr lang="en-US" sz="2600" dirty="0" err="1">
                <a:sym typeface="Symbol"/>
              </a:rPr>
              <a:t>tuple</a:t>
            </a:r>
            <a:r>
              <a:rPr lang="en-US" sz="2600" dirty="0">
                <a:sym typeface="Symbol"/>
              </a:rPr>
              <a:t> consisting of:</a:t>
            </a:r>
          </a:p>
          <a:p>
            <a:pPr lvl="2"/>
            <a:r>
              <a:rPr lang="en-US" sz="2400" dirty="0">
                <a:sym typeface="Symbol"/>
              </a:rPr>
              <a:t>The grouping attributes’ values for that group and</a:t>
            </a:r>
          </a:p>
          <a:p>
            <a:pPr lvl="2"/>
            <a:r>
              <a:rPr lang="en-US" sz="2400" dirty="0">
                <a:sym typeface="Symbol"/>
              </a:rPr>
              <a:t>The aggregations, over all </a:t>
            </a:r>
            <a:r>
              <a:rPr lang="en-US" sz="2400" dirty="0" err="1">
                <a:sym typeface="Symbol"/>
              </a:rPr>
              <a:t>tuples</a:t>
            </a:r>
            <a:r>
              <a:rPr lang="en-US" sz="2400" dirty="0">
                <a:sym typeface="Symbol"/>
              </a:rPr>
              <a:t> of that group, for the aggregated attributes on list L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Grouping and Grouping Operator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3E7A8E-CF29-40D1-9CDC-0D67AF2D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51E7B4-3360-4786-91B8-70C792A5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23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sz="2200"/>
              <a:t>Example: Compute the total number of stars of each movie?</a:t>
            </a:r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Grouping and Grouping Operator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981200"/>
            <a:ext cx="7086600" cy="20761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00200" y="466695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movieTitle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movieYear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totalStars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Gone</a:t>
                      </a:r>
                      <a:r>
                        <a:rPr lang="en-US" baseline="0" dirty="0"/>
                        <a:t> With The Wine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Wayne’s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3114" y="4057352"/>
            <a:ext cx="73710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600" b="1" dirty="0">
                <a:sym typeface="Symbol"/>
              </a:rPr>
              <a:t></a:t>
            </a:r>
            <a:r>
              <a:rPr lang="en-US" sz="2600" i="1" baseline="-25000" dirty="0">
                <a:sym typeface="Symbol"/>
              </a:rPr>
              <a:t>title-&gt;</a:t>
            </a:r>
            <a:r>
              <a:rPr lang="en-US" sz="2600" i="1" baseline="-25000" dirty="0" err="1">
                <a:sym typeface="Symbol"/>
              </a:rPr>
              <a:t>movieTitle</a:t>
            </a:r>
            <a:r>
              <a:rPr lang="en-US" sz="2600" i="1" baseline="-25000" dirty="0">
                <a:sym typeface="Symbol"/>
              </a:rPr>
              <a:t>, year-&gt;</a:t>
            </a:r>
            <a:r>
              <a:rPr lang="en-US" sz="2600" i="1" baseline="-25000" dirty="0" err="1">
                <a:sym typeface="Symbol"/>
              </a:rPr>
              <a:t>movieYear</a:t>
            </a:r>
            <a:r>
              <a:rPr lang="en-US" sz="2600" i="1" baseline="-25000" dirty="0">
                <a:sym typeface="Symbol"/>
              </a:rPr>
              <a:t>, COUNT(</a:t>
            </a:r>
            <a:r>
              <a:rPr lang="en-US" sz="2600" i="1" baseline="-25000" dirty="0" err="1">
                <a:sym typeface="Symbol"/>
              </a:rPr>
              <a:t>starName</a:t>
            </a:r>
            <a:r>
              <a:rPr lang="en-US" sz="2600" i="1" baseline="-25000" dirty="0">
                <a:sym typeface="Symbol"/>
              </a:rPr>
              <a:t>)-&gt;totalStars</a:t>
            </a:r>
            <a:r>
              <a:rPr lang="en-US" sz="2600" dirty="0">
                <a:sym typeface="Symbol"/>
              </a:rPr>
              <a:t>(Movies)</a:t>
            </a:r>
            <a:endParaRPr lang="en-US" sz="26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ECB34-DA55-450F-8480-269FCD0D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9FAC4-D3B7-47F1-9CD1-D465EF38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24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An extended projection, denoted </a:t>
            </a:r>
            <a:r>
              <a:rPr lang="en-US" sz="3600" b="1" dirty="0">
                <a:sym typeface="Symbol"/>
              </a:rPr>
              <a:t></a:t>
            </a:r>
            <a:r>
              <a:rPr lang="en-US" i="1" baseline="-25000" dirty="0">
                <a:sym typeface="Symbol"/>
              </a:rPr>
              <a:t>L</a:t>
            </a:r>
            <a:r>
              <a:rPr lang="en-US" dirty="0">
                <a:sym typeface="Symbol"/>
              </a:rPr>
              <a:t>(R), L list can have the following kinds of elements:</a:t>
            </a:r>
          </a:p>
          <a:p>
            <a:pPr lvl="1"/>
            <a:r>
              <a:rPr lang="en-US" dirty="0">
                <a:sym typeface="Symbol"/>
              </a:rPr>
              <a:t>A single attribute of R</a:t>
            </a:r>
          </a:p>
          <a:p>
            <a:pPr lvl="1"/>
            <a:r>
              <a:rPr lang="en-US" dirty="0">
                <a:sym typeface="Symbol"/>
              </a:rPr>
              <a:t>An expression x  y, where x, y are attributes, means that rename x attribute of R to y</a:t>
            </a:r>
          </a:p>
          <a:p>
            <a:pPr lvl="1"/>
            <a:r>
              <a:rPr lang="en-US" dirty="0">
                <a:sym typeface="Symbol"/>
              </a:rPr>
              <a:t>An expression E  z, where E is an expression involving attributes of R, constants, arithmetic operators, string operators, and z is new attribute that results from 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Extending the Projection Operator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6A4E5-C1EB-4B8D-8A5A-6F1F033A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7E4E2E-6A49-4D26-ACE6-0EA8614E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25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Extending the Projection Operator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800" y="2286000"/>
          <a:ext cx="12344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46177" y="2286000"/>
          <a:ext cx="8404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3429000" y="3048000"/>
            <a:ext cx="2819400" cy="158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91000" y="2590800"/>
            <a:ext cx="14164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ym typeface="Symbol"/>
              </a:rPr>
              <a:t></a:t>
            </a:r>
            <a:r>
              <a:rPr lang="en-US" sz="2200" i="1" baseline="-25000" dirty="0">
                <a:sym typeface="Symbol"/>
              </a:rPr>
              <a:t>A,B+C-&gt;X</a:t>
            </a:r>
            <a:r>
              <a:rPr lang="en-US" sz="2200" dirty="0">
                <a:sym typeface="Symbol"/>
              </a:rPr>
              <a:t>(R)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121139-3337-41FD-A2D3-3FBE566B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1929D-97B2-49AC-99E1-38E4D65D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26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Sort the </a:t>
            </a:r>
            <a:r>
              <a:rPr lang="en-US" dirty="0" err="1"/>
              <a:t>tuples</a:t>
            </a:r>
            <a:r>
              <a:rPr lang="en-US" dirty="0"/>
              <a:t> of a relation by one or more of its attributes</a:t>
            </a:r>
          </a:p>
          <a:p>
            <a:r>
              <a:rPr lang="en-US" sz="3200" b="1" dirty="0">
                <a:sym typeface="Symbol"/>
              </a:rPr>
              <a:t></a:t>
            </a:r>
            <a:r>
              <a:rPr lang="en-US" baseline="-25000" dirty="0">
                <a:sym typeface="Symbol"/>
              </a:rPr>
              <a:t>L</a:t>
            </a:r>
            <a:r>
              <a:rPr lang="en-US" dirty="0">
                <a:sym typeface="Symbol"/>
              </a:rPr>
              <a:t>(R), where R is a relation and L is a list of some of R’s attributes</a:t>
            </a:r>
          </a:p>
          <a:p>
            <a:r>
              <a:rPr lang="en-US" dirty="0">
                <a:sym typeface="Symbol"/>
              </a:rPr>
              <a:t>Example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The Sorting Operator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24200" y="4318000"/>
          <a:ext cx="1234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95160" y="4318000"/>
          <a:ext cx="1234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4343400" y="5080000"/>
            <a:ext cx="2590800" cy="1588"/>
          </a:xfrm>
          <a:prstGeom prst="straightConnector1">
            <a:avLst/>
          </a:prstGeom>
          <a:ln w="444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0" y="4699000"/>
            <a:ext cx="734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ym typeface="Symbol"/>
              </a:rPr>
              <a:t></a:t>
            </a:r>
            <a:r>
              <a:rPr lang="en-US" baseline="-25000" dirty="0">
                <a:sym typeface="Symbol"/>
              </a:rPr>
              <a:t>A</a:t>
            </a:r>
            <a:r>
              <a:rPr lang="en-US" dirty="0">
                <a:sym typeface="Symbol"/>
              </a:rPr>
              <a:t>(R)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07F475-F9A8-46A4-8841-EF03503E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EED4FF-9158-4079-92C7-B6398BD6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27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A property of the join is that it is possible for certain </a:t>
            </a:r>
            <a:r>
              <a:rPr lang="en-US" dirty="0" err="1"/>
              <a:t>tuples</a:t>
            </a:r>
            <a:r>
              <a:rPr lang="en-US" dirty="0"/>
              <a:t> that can match any </a:t>
            </a:r>
            <a:r>
              <a:rPr lang="en-US" dirty="0" err="1"/>
              <a:t>tuple</a:t>
            </a:r>
            <a:r>
              <a:rPr lang="en-US" dirty="0"/>
              <a:t> of the other relation in the common attributes</a:t>
            </a:r>
          </a:p>
          <a:p>
            <a:r>
              <a:rPr lang="en-US" dirty="0"/>
              <a:t>Example: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What do you consider?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Outer joins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3622040"/>
          <a:ext cx="12344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42360" y="3622040"/>
          <a:ext cx="130587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3581400"/>
          <a:ext cx="171100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34C3E-A716-4FC4-9912-28BBCE99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C168A-7152-4B6A-9F85-D9D73175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28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>
            <a:normAutofit/>
          </a:bodyPr>
          <a:lstStyle/>
          <a:p>
            <a:r>
              <a:rPr lang="en-US" dirty="0"/>
              <a:t>Natural Outer Joins, is denoted as R </a:t>
            </a:r>
            <a:r>
              <a:rPr lang="en-US" dirty="0">
                <a:latin typeface="Lucida Sans Unicode" pitchFamily="34" charset="0"/>
              </a:rPr>
              <a:t>⋈ S,</a:t>
            </a:r>
            <a:r>
              <a:rPr lang="en-US" dirty="0"/>
              <a:t> is on equated values of all attributes in common to the two relations (like R</a:t>
            </a:r>
            <a:r>
              <a:rPr lang="en-US" dirty="0">
                <a:latin typeface="Lucida Sans Unicode" pitchFamily="34" charset="0"/>
              </a:rPr>
              <a:t> ⋈ S</a:t>
            </a:r>
            <a:r>
              <a:rPr lang="en-US" dirty="0"/>
              <a:t>), and adding any dangling </a:t>
            </a:r>
            <a:r>
              <a:rPr lang="en-US" dirty="0" err="1"/>
              <a:t>tuples</a:t>
            </a:r>
            <a:r>
              <a:rPr lang="en-US" dirty="0"/>
              <a:t> from R or S</a:t>
            </a:r>
          </a:p>
          <a:p>
            <a:r>
              <a:rPr lang="en-US" dirty="0"/>
              <a:t>The added </a:t>
            </a:r>
            <a:r>
              <a:rPr lang="en-US" dirty="0" err="1"/>
              <a:t>tuples</a:t>
            </a:r>
            <a:r>
              <a:rPr lang="en-US" dirty="0"/>
              <a:t> must be padded with a special </a:t>
            </a:r>
            <a:r>
              <a:rPr lang="en-US" i="1" dirty="0"/>
              <a:t>null</a:t>
            </a:r>
            <a:r>
              <a:rPr lang="en-US" dirty="0"/>
              <a:t> symbol in all the attributes that they do not possess but that appear in the join result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Natural Outer Joins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6829982" y="1411069"/>
            <a:ext cx="485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6781800" y="2133600"/>
            <a:ext cx="94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32C562-2EBE-4A2E-9EA1-598A6392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99C060-0693-4430-A191-9FF02AC8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29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Natural Outer Joins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2804160"/>
          <a:ext cx="12344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42360" y="2804160"/>
          <a:ext cx="130587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4442" y="2804160"/>
          <a:ext cx="174275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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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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6B5AB-532C-4564-8947-DB004517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ALGEBRAIC QUERY LANGUAGE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C0E6D-EFF0-4D22-B875-B9873F92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DD2D-D1AD-4AA7-93C2-8410BB90945D}" type="slidenum">
              <a:rPr lang="vi-VN" smtClean="0"/>
              <a:t>30</a:t>
            </a:fld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27125"/>
            <a:ext cx="7937500" cy="5068888"/>
          </a:xfrm>
        </p:spPr>
        <p:txBody>
          <a:bodyPr/>
          <a:lstStyle/>
          <a:p>
            <a:r>
              <a:rPr lang="en-US" dirty="0"/>
              <a:t>There are many variants of the basic outer join</a:t>
            </a:r>
          </a:p>
          <a:p>
            <a:pPr lvl="1"/>
            <a:r>
              <a:rPr lang="en-US" dirty="0"/>
              <a:t>The left outer join R </a:t>
            </a:r>
            <a:r>
              <a:rPr lang="en-US" dirty="0">
                <a:latin typeface="Lucida Sans Unicode" pitchFamily="34" charset="0"/>
              </a:rPr>
              <a:t>⋈</a:t>
            </a:r>
            <a:r>
              <a:rPr lang="en-US" baseline="-25000" dirty="0">
                <a:latin typeface="Lucida Sans Unicode" pitchFamily="34" charset="0"/>
              </a:rPr>
              <a:t>L</a:t>
            </a:r>
            <a:r>
              <a:rPr lang="en-US" dirty="0">
                <a:latin typeface="Lucida Sans Unicode" pitchFamily="34" charset="0"/>
              </a:rPr>
              <a:t> S</a:t>
            </a:r>
            <a:endParaRPr lang="en-US" dirty="0"/>
          </a:p>
          <a:p>
            <a:pPr lvl="1"/>
            <a:r>
              <a:rPr lang="en-US" dirty="0"/>
              <a:t>The right outer join R </a:t>
            </a:r>
            <a:r>
              <a:rPr lang="en-US" dirty="0">
                <a:latin typeface="Lucida Sans Unicode" pitchFamily="34" charset="0"/>
              </a:rPr>
              <a:t>⋈</a:t>
            </a:r>
            <a:r>
              <a:rPr lang="en-US" baseline="-25000" dirty="0">
                <a:latin typeface="Lucida Sans Unicode" pitchFamily="34" charset="0"/>
              </a:rPr>
              <a:t>R</a:t>
            </a:r>
            <a:r>
              <a:rPr lang="en-US" dirty="0">
                <a:latin typeface="Lucida Sans Unicode" pitchFamily="34" charset="0"/>
              </a:rPr>
              <a:t> S</a:t>
            </a:r>
          </a:p>
          <a:p>
            <a:r>
              <a:rPr lang="en-US" dirty="0"/>
              <a:t>Left, right, full outer join are also denoted that:</a:t>
            </a:r>
          </a:p>
          <a:p>
            <a:pPr lvl="1">
              <a:buFontTx/>
              <a:buChar char="-"/>
            </a:pPr>
            <a:r>
              <a:rPr lang="en-US" dirty="0"/>
              <a:t>Left outer join (⟕)</a:t>
            </a:r>
          </a:p>
          <a:p>
            <a:pPr lvl="1">
              <a:buFontTx/>
              <a:buChar char="-"/>
            </a:pPr>
            <a:r>
              <a:rPr lang="en-US" dirty="0"/>
              <a:t>Right outer join (⟖)</a:t>
            </a:r>
          </a:p>
          <a:p>
            <a:pPr lvl="1">
              <a:buFontTx/>
              <a:buChar char="-"/>
            </a:pPr>
            <a:r>
              <a:rPr lang="en-US" dirty="0"/>
              <a:t>Full Outer join (⟗)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7937500" cy="839787"/>
          </a:xfrm>
        </p:spPr>
        <p:txBody>
          <a:bodyPr/>
          <a:lstStyle/>
          <a:p>
            <a:pPr algn="ctr"/>
            <a:r>
              <a:rPr lang="en-US" dirty="0"/>
              <a:t>Outer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600" y="2145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5265" y="27548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</TotalTime>
  <Words>1720</Words>
  <Application>Microsoft Office PowerPoint</Application>
  <PresentationFormat>On-screen Show (4:3)</PresentationFormat>
  <Paragraphs>655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Lucida Sans Unicode</vt:lpstr>
      <vt:lpstr>Symbol</vt:lpstr>
      <vt:lpstr>Times New Roman</vt:lpstr>
      <vt:lpstr>Wingdings</vt:lpstr>
      <vt:lpstr>Retrospect</vt:lpstr>
      <vt:lpstr>Custom Design</vt:lpstr>
      <vt:lpstr>Chapter 5</vt:lpstr>
      <vt:lpstr>Objectives</vt:lpstr>
      <vt:lpstr>Relational Operations on Bags</vt:lpstr>
      <vt:lpstr>Relational Operations on Bags</vt:lpstr>
      <vt:lpstr>Why Bags?</vt:lpstr>
      <vt:lpstr>Why Bags?</vt:lpstr>
      <vt:lpstr>Union, Intersection, and Difference of Bags</vt:lpstr>
      <vt:lpstr>Union, Intersection, and Difference of Bags</vt:lpstr>
      <vt:lpstr>Projection of Bags</vt:lpstr>
      <vt:lpstr>Selection on Bags</vt:lpstr>
      <vt:lpstr>Product of Bags</vt:lpstr>
      <vt:lpstr>Product of Bags</vt:lpstr>
      <vt:lpstr>Joins of Bags</vt:lpstr>
      <vt:lpstr>Joins of Bags</vt:lpstr>
      <vt:lpstr>EXTENDED OPERATIONS OF RELATIONAL ALGEBRA</vt:lpstr>
      <vt:lpstr>Extended Operators of Relational Algebra</vt:lpstr>
      <vt:lpstr>Duplicate Elimination</vt:lpstr>
      <vt:lpstr>Aggregation Operators</vt:lpstr>
      <vt:lpstr>Aggregation Operators</vt:lpstr>
      <vt:lpstr>How do we ...</vt:lpstr>
      <vt:lpstr>So how we do?</vt:lpstr>
      <vt:lpstr>Grouping and Grouping Operator</vt:lpstr>
      <vt:lpstr>Grouping and Grouping Operator</vt:lpstr>
      <vt:lpstr>Extending the Projection Operator</vt:lpstr>
      <vt:lpstr>Extending the Projection Operator</vt:lpstr>
      <vt:lpstr>The Sorting Operator</vt:lpstr>
      <vt:lpstr>Outer joins</vt:lpstr>
      <vt:lpstr>Natural Outer Joins</vt:lpstr>
      <vt:lpstr>Natural Outer Joins</vt:lpstr>
      <vt:lpstr>Outer Joins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37</cp:revision>
  <dcterms:created xsi:type="dcterms:W3CDTF">2020-12-02T06:50:22Z</dcterms:created>
  <dcterms:modified xsi:type="dcterms:W3CDTF">2025-09-04T03:22:07Z</dcterms:modified>
</cp:coreProperties>
</file>